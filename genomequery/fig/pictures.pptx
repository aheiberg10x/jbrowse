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34.xml" ContentType="application/vnd.openxmlformats-officedocument.presentationml.slide+xml"/>
  <Default Extension="jpeg" ContentType="image/jpeg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30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7.xml" ContentType="application/vnd.openxmlformats-officedocument.presentationml.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s/slide2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36"/>
  </p:notesMasterIdLst>
  <p:sldIdLst>
    <p:sldId id="256" r:id="rId2"/>
    <p:sldId id="300" r:id="rId3"/>
    <p:sldId id="264" r:id="rId4"/>
    <p:sldId id="283" r:id="rId5"/>
    <p:sldId id="285" r:id="rId6"/>
    <p:sldId id="286" r:id="rId7"/>
    <p:sldId id="287" r:id="rId8"/>
    <p:sldId id="267" r:id="rId9"/>
    <p:sldId id="288" r:id="rId10"/>
    <p:sldId id="289" r:id="rId11"/>
    <p:sldId id="269" r:id="rId12"/>
    <p:sldId id="268" r:id="rId13"/>
    <p:sldId id="270" r:id="rId14"/>
    <p:sldId id="273" r:id="rId15"/>
    <p:sldId id="271" r:id="rId16"/>
    <p:sldId id="272" r:id="rId17"/>
    <p:sldId id="274" r:id="rId18"/>
    <p:sldId id="290" r:id="rId19"/>
    <p:sldId id="291" r:id="rId20"/>
    <p:sldId id="292" r:id="rId21"/>
    <p:sldId id="293" r:id="rId22"/>
    <p:sldId id="297" r:id="rId23"/>
    <p:sldId id="301" r:id="rId24"/>
    <p:sldId id="304" r:id="rId25"/>
    <p:sldId id="302" r:id="rId26"/>
    <p:sldId id="299" r:id="rId27"/>
    <p:sldId id="276" r:id="rId28"/>
    <p:sldId id="277" r:id="rId29"/>
    <p:sldId id="278" r:id="rId30"/>
    <p:sldId id="279" r:id="rId31"/>
    <p:sldId id="296" r:id="rId32"/>
    <p:sldId id="280" r:id="rId33"/>
    <p:sldId id="281" r:id="rId34"/>
    <p:sldId id="30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2045" autoAdjust="0"/>
    <p:restoredTop sz="94660"/>
  </p:normalViewPr>
  <p:slideViewPr>
    <p:cSldViewPr>
      <p:cViewPr>
        <p:scale>
          <a:sx n="105" d="100"/>
          <a:sy n="105" d="100"/>
        </p:scale>
        <p:origin x="-1152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printerSettings" Target="printerSettings/printerSettings1.bin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E1D2C-23BD-488C-8FA3-D0F595AA5AD9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69535-EB15-451C-937A-60FCF7D8CD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Should we say “Abstractions</a:t>
            </a:r>
            <a:r>
              <a:rPr lang="en-US" baseline="0" dirty="0" smtClean="0"/>
              <a:t> for </a:t>
            </a:r>
            <a:r>
              <a:rPr lang="en-US" baseline="0" dirty="0" err="1" smtClean="0"/>
              <a:t>GenomeQL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9535-EB15-451C-937A-60FCF7D8CD9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0FFBE-C9D9-4CEF-BD84-6370D76783EC}" type="datetimeFigureOut">
              <a:rPr lang="en-US" smtClean="0"/>
              <a:pPr/>
              <a:t>11/8/10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E4A2C-B4C1-4283-8259-3FA9D0F53F0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8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/>
          <a:ea typeface="+mn-ea"/>
          <a:cs typeface="Cambria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Cambria"/>
          <a:ea typeface="+mn-ea"/>
          <a:cs typeface="Cambria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mbria"/>
          <a:ea typeface="+mn-ea"/>
          <a:cs typeface="Cambria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Cambria"/>
          <a:ea typeface="+mn-ea"/>
          <a:cs typeface="Cambria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mbria"/>
          <a:ea typeface="+mn-ea"/>
          <a:cs typeface="Cambria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Abstractions for Genomics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</a:rPr>
              <a:t>Vineet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Bafna</a:t>
            </a:r>
            <a:r>
              <a:rPr lang="en-US" sz="2000" dirty="0" smtClean="0">
                <a:solidFill>
                  <a:schemeClr val="tx1"/>
                </a:solidFill>
              </a:rPr>
              <a:t>, Christos </a:t>
            </a:r>
            <a:r>
              <a:rPr lang="en-US" sz="2000" dirty="0" err="1" smtClean="0">
                <a:solidFill>
                  <a:schemeClr val="tx1"/>
                </a:solidFill>
              </a:rPr>
              <a:t>Kozanitis</a:t>
            </a:r>
            <a:r>
              <a:rPr lang="en-US" sz="2000" dirty="0" smtClean="0">
                <a:solidFill>
                  <a:schemeClr val="tx1"/>
                </a:solidFill>
              </a:rPr>
              <a:t>, George Varghese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5638800"/>
            <a:ext cx="370746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NOT FOR distribution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096962"/>
          </a:xfrm>
        </p:spPr>
        <p:txBody>
          <a:bodyPr>
            <a:normAutofit/>
          </a:bodyPr>
          <a:lstStyle/>
          <a:p>
            <a:r>
              <a:rPr lang="en-US" dirty="0" smtClean="0"/>
              <a:t>Internet Layering as an 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600201"/>
          <a:ext cx="3276600" cy="4897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/>
              </a:tblGrid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Application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TCP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25142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IP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261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Data</a:t>
                      </a:r>
                      <a:r>
                        <a:rPr lang="en-US" sz="2400" b="1" baseline="0" dirty="0" smtClean="0"/>
                        <a:t> Link</a:t>
                      </a:r>
                      <a:endParaRPr lang="en-US" sz="2400" b="1" dirty="0" smtClean="0"/>
                    </a:p>
                    <a:p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Physical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18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dirty="0" smtClean="0"/>
                    </a:p>
                    <a:p>
                      <a:endParaRPr lang="en-US" sz="2400" b="1" dirty="0" smtClean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419600" y="4267200"/>
            <a:ext cx="24910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sz="2400" i="1" dirty="0" smtClean="0"/>
              <a:t>Ex:  Ethernet, PPP </a:t>
            </a:r>
            <a:endParaRPr lang="en-US" sz="2400" i="1" dirty="0"/>
          </a:p>
        </p:txBody>
      </p:sp>
      <p:sp>
        <p:nvSpPr>
          <p:cNvPr id="9" name="Rectangle 8"/>
          <p:cNvSpPr/>
          <p:nvPr/>
        </p:nvSpPr>
        <p:spPr>
          <a:xfrm>
            <a:off x="3920706" y="4964668"/>
            <a:ext cx="3149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sz="2400" i="1" dirty="0" smtClean="0"/>
              <a:t>Ex: fiber, wireless, coax</a:t>
            </a:r>
            <a:endParaRPr lang="en-US" sz="2400" i="1" dirty="0"/>
          </a:p>
        </p:txBody>
      </p:sp>
      <p:sp>
        <p:nvSpPr>
          <p:cNvPr id="10" name="Rectangle 9"/>
          <p:cNvSpPr/>
          <p:nvPr/>
        </p:nvSpPr>
        <p:spPr>
          <a:xfrm>
            <a:off x="4038600" y="1676400"/>
            <a:ext cx="3739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i="1" dirty="0" smtClean="0"/>
              <a:t>Ex: File Transfer, Email, Web</a:t>
            </a:r>
            <a:endParaRPr lang="en-US" sz="2400" i="1" dirty="0"/>
          </a:p>
        </p:txBody>
      </p:sp>
      <p:sp>
        <p:nvSpPr>
          <p:cNvPr id="11" name="Down Arrow 10"/>
          <p:cNvSpPr/>
          <p:nvPr/>
        </p:nvSpPr>
        <p:spPr>
          <a:xfrm>
            <a:off x="3429000" y="22860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3429000" y="30480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429000" y="39624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3429000" y="48006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3429000" y="55626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/>
          <p:cNvSpPr/>
          <p:nvPr/>
        </p:nvSpPr>
        <p:spPr>
          <a:xfrm>
            <a:off x="3962400" y="2209800"/>
            <a:ext cx="381000" cy="2133600"/>
          </a:xfrm>
          <a:prstGeom prst="rightBrace">
            <a:avLst>
              <a:gd name="adj1" fmla="val 8333"/>
              <a:gd name="adj2" fmla="val 4137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495801" y="2971800"/>
            <a:ext cx="403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Narrow waist, stayed constant for 25 years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Lessons from Complex Systems (Internet, PCs, Databases)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good way to build complex software is to do so in layers.</a:t>
            </a:r>
          </a:p>
          <a:p>
            <a:r>
              <a:rPr lang="en-US" dirty="0" smtClean="0"/>
              <a:t>Each layer should provide a higher level abstraction to layer above (good APIs)</a:t>
            </a:r>
          </a:p>
          <a:p>
            <a:r>
              <a:rPr lang="en-US" dirty="0" smtClean="0"/>
              <a:t>Attention must be paid to efficiency mechanism or folks will work around layers</a:t>
            </a:r>
          </a:p>
          <a:p>
            <a:r>
              <a:rPr lang="en-US" dirty="0" smtClean="0"/>
              <a:t>What should the layering for genomic processing be?  The APIs?  The Mechanisms?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Assumptions for genomic layering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102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 the near future, </a:t>
            </a:r>
          </a:p>
          <a:p>
            <a:pPr lvl="1"/>
            <a:r>
              <a:rPr lang="en-US" dirty="0" smtClean="0"/>
              <a:t>The output of genome sequencing will continue to be redundant sequencing of small (sub-chromosomal) fragments.</a:t>
            </a:r>
          </a:p>
          <a:p>
            <a:pPr lvl="1"/>
            <a:r>
              <a:rPr lang="en-US" dirty="0" smtClean="0"/>
              <a:t>De novo assembly into haploid chromosomes is still some years away</a:t>
            </a:r>
          </a:p>
          <a:p>
            <a:pPr lvl="1"/>
            <a:r>
              <a:rPr lang="en-US" dirty="0" smtClean="0"/>
              <a:t>Representing fragments as edits to a reference will remain an effective compression mechanism.</a:t>
            </a:r>
          </a:p>
          <a:p>
            <a:pPr lvl="1"/>
            <a:r>
              <a:rPr lang="en-US" dirty="0" smtClean="0"/>
              <a:t>The nucleotides might be associated with quality values (possibly deprecated with improving instrumentation)</a:t>
            </a:r>
          </a:p>
          <a:p>
            <a:r>
              <a:rPr lang="en-US" dirty="0" smtClean="0"/>
              <a:t>Many queries will involve variation between the sequenced (</a:t>
            </a:r>
            <a:r>
              <a:rPr lang="en-US" i="1" dirty="0" smtClean="0"/>
              <a:t>sample</a:t>
            </a:r>
            <a:r>
              <a:rPr lang="en-US" dirty="0" smtClean="0"/>
              <a:t>) genome and the reference.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477000" y="2971800"/>
            <a:ext cx="2209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6629400" y="3198812"/>
            <a:ext cx="1524000" cy="79376"/>
            <a:chOff x="6629400" y="3198812"/>
            <a:chExt cx="1524000" cy="7937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6629400" y="3198812"/>
              <a:ext cx="5334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6934200" y="3276600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696200" y="3276600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6781800" y="3505200"/>
            <a:ext cx="1295400" cy="77788"/>
            <a:chOff x="6629400" y="3198812"/>
            <a:chExt cx="1295400" cy="77788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6629400" y="3198812"/>
              <a:ext cx="5334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391400" y="3198812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467600" y="3275012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6781800" y="3810000"/>
            <a:ext cx="1676400" cy="77788"/>
            <a:chOff x="6629400" y="3198812"/>
            <a:chExt cx="1676400" cy="77788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6629400" y="3198812"/>
              <a:ext cx="5334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705600" y="3275012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848600" y="3198812"/>
              <a:ext cx="457200" cy="1588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/>
          <p:cNvSpPr/>
          <p:nvPr/>
        </p:nvSpPr>
        <p:spPr>
          <a:xfrm>
            <a:off x="6553200" y="3124200"/>
            <a:ext cx="1981200" cy="2286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553200" y="3429000"/>
            <a:ext cx="1981200" cy="2286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553200" y="3733800"/>
            <a:ext cx="1981200" cy="2286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>
            <a:endCxn id="23" idx="1"/>
          </p:cNvCxnSpPr>
          <p:nvPr/>
        </p:nvCxnSpPr>
        <p:spPr>
          <a:xfrm rot="5400000" flipH="1" flipV="1">
            <a:off x="5810250" y="3448050"/>
            <a:ext cx="952500" cy="53340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5" idx="1"/>
          </p:cNvCxnSpPr>
          <p:nvPr/>
        </p:nvCxnSpPr>
        <p:spPr>
          <a:xfrm flipV="1">
            <a:off x="6019800" y="3848100"/>
            <a:ext cx="533400" cy="342900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67400" y="4114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samples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6019800" y="2514600"/>
            <a:ext cx="1080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cxnSp>
        <p:nvCxnSpPr>
          <p:cNvPr id="34" name="Straight Arrow Connector 33"/>
          <p:cNvCxnSpPr>
            <a:stCxn id="32" idx="3"/>
          </p:cNvCxnSpPr>
          <p:nvPr/>
        </p:nvCxnSpPr>
        <p:spPr>
          <a:xfrm>
            <a:off x="7100294" y="2699266"/>
            <a:ext cx="138706" cy="19633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1096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Proposed layering of genomic software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600201"/>
          <a:ext cx="3276600" cy="4897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/>
              </a:tblGrid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Application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Inference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25142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Evidence collection layer</a:t>
                      </a:r>
                      <a:endParaRPr lang="en-US" sz="2400" b="1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2615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Compression Layer</a:t>
                      </a:r>
                    </a:p>
                    <a:p>
                      <a:endParaRPr lang="en-US" sz="1800" b="0" dirty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241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Mapping</a:t>
                      </a:r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0180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Instrument Layer</a:t>
                      </a:r>
                    </a:p>
                    <a:p>
                      <a:endParaRPr lang="en-US" sz="2400" b="1" dirty="0" smtClean="0"/>
                    </a:p>
                  </a:txBody>
                  <a:tcPr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886200" y="5678269"/>
            <a:ext cx="337595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sz="2400" i="1" dirty="0" smtClean="0"/>
              <a:t>Ex: </a:t>
            </a:r>
            <a:r>
              <a:rPr lang="en-US" sz="2400" i="1" dirty="0" err="1" smtClean="0"/>
              <a:t>Illumina</a:t>
            </a:r>
            <a:r>
              <a:rPr lang="en-US" sz="2400" i="1" dirty="0" smtClean="0"/>
              <a:t> Q-values</a:t>
            </a:r>
          </a:p>
          <a:p>
            <a:r>
              <a:rPr lang="en-US" sz="2400" i="1" dirty="0" smtClean="0"/>
              <a:t>        </a:t>
            </a:r>
            <a:r>
              <a:rPr lang="en-US" sz="2400" i="1" dirty="0" err="1" smtClean="0"/>
              <a:t>Phred</a:t>
            </a:r>
            <a:r>
              <a:rPr lang="en-US" sz="2400" i="1" dirty="0" smtClean="0"/>
              <a:t> calls, Haussler</a:t>
            </a:r>
            <a:endParaRPr lang="en-US" sz="2400" i="1" dirty="0"/>
          </a:p>
        </p:txBody>
      </p:sp>
      <p:sp>
        <p:nvSpPr>
          <p:cNvPr id="6" name="Rectangle 5"/>
          <p:cNvSpPr/>
          <p:nvPr/>
        </p:nvSpPr>
        <p:spPr>
          <a:xfrm>
            <a:off x="3886200" y="4267200"/>
            <a:ext cx="26533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sz="2400" i="1" dirty="0" smtClean="0"/>
              <a:t>Ex: </a:t>
            </a:r>
            <a:r>
              <a:rPr lang="en-US" sz="2400" i="1" dirty="0" err="1" smtClean="0"/>
              <a:t>SlimGene</a:t>
            </a:r>
            <a:r>
              <a:rPr lang="en-US" sz="2400" i="1" dirty="0" smtClean="0"/>
              <a:t>, BAM</a:t>
            </a:r>
            <a:endParaRPr lang="en-US" sz="2400" i="1" dirty="0"/>
          </a:p>
        </p:txBody>
      </p:sp>
      <p:sp>
        <p:nvSpPr>
          <p:cNvPr id="7" name="Rectangle 6"/>
          <p:cNvSpPr/>
          <p:nvPr/>
        </p:nvSpPr>
        <p:spPr>
          <a:xfrm>
            <a:off x="4495801" y="2895600"/>
            <a:ext cx="396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Ex: </a:t>
            </a:r>
            <a:r>
              <a:rPr lang="en-US" sz="2400" i="1" dirty="0" err="1" smtClean="0"/>
              <a:t>SAMtools</a:t>
            </a:r>
            <a:r>
              <a:rPr lang="en-US" sz="2400" i="1" dirty="0" smtClean="0"/>
              <a:t>, </a:t>
            </a:r>
            <a:r>
              <a:rPr lang="en-US" sz="2400" i="1" dirty="0" err="1" smtClean="0"/>
              <a:t>CNVer</a:t>
            </a:r>
            <a:r>
              <a:rPr lang="en-US" sz="2400" i="1" dirty="0" smtClean="0"/>
              <a:t>, SV detection tools</a:t>
            </a:r>
            <a:endParaRPr lang="en-US" sz="2400" i="1" dirty="0"/>
          </a:p>
        </p:txBody>
      </p:sp>
      <p:sp>
        <p:nvSpPr>
          <p:cNvPr id="8" name="Right Brace 7"/>
          <p:cNvSpPr/>
          <p:nvPr/>
        </p:nvSpPr>
        <p:spPr>
          <a:xfrm>
            <a:off x="3962400" y="2286000"/>
            <a:ext cx="381000" cy="2133600"/>
          </a:xfrm>
          <a:prstGeom prst="rightBrace">
            <a:avLst>
              <a:gd name="adj1" fmla="val 8333"/>
              <a:gd name="adj2" fmla="val 4137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20706" y="4964668"/>
            <a:ext cx="23015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 </a:t>
            </a:r>
            <a:r>
              <a:rPr lang="en-US" sz="2400" i="1" dirty="0" smtClean="0"/>
              <a:t>Ex: MAQ, </a:t>
            </a:r>
            <a:r>
              <a:rPr lang="en-US" sz="2400" i="1" dirty="0" err="1" smtClean="0"/>
              <a:t>bwa</a:t>
            </a:r>
            <a:r>
              <a:rPr lang="en-US" sz="2400" i="1" dirty="0" smtClean="0"/>
              <a:t>,</a:t>
            </a:r>
            <a:r>
              <a:rPr lang="en-US" i="1" dirty="0" smtClean="0"/>
              <a:t>…</a:t>
            </a:r>
            <a:endParaRPr lang="en-US" i="1" dirty="0"/>
          </a:p>
        </p:txBody>
      </p:sp>
      <p:sp>
        <p:nvSpPr>
          <p:cNvPr id="10" name="Rectangle 9"/>
          <p:cNvSpPr/>
          <p:nvPr/>
        </p:nvSpPr>
        <p:spPr>
          <a:xfrm>
            <a:off x="4038601" y="1676400"/>
            <a:ext cx="434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/>
              <a:t>Ex: GWAS, RV analysis, cancer genomics</a:t>
            </a:r>
            <a:endParaRPr lang="en-US" sz="2400" i="1" dirty="0"/>
          </a:p>
        </p:txBody>
      </p:sp>
      <p:sp>
        <p:nvSpPr>
          <p:cNvPr id="11" name="Down Arrow 10"/>
          <p:cNvSpPr/>
          <p:nvPr/>
        </p:nvSpPr>
        <p:spPr>
          <a:xfrm>
            <a:off x="3429000" y="22860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>
            <a:off x="3429000" y="30480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3429000" y="39624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3429000" y="48006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3429000" y="5562600"/>
            <a:ext cx="228600" cy="22860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52400" y="2895600"/>
            <a:ext cx="3276600" cy="1905000"/>
          </a:xfrm>
          <a:prstGeom prst="ellipse">
            <a:avLst/>
          </a:prstGeom>
          <a:noFill/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current state of the art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5257800" y="1600200"/>
          <a:ext cx="3276600" cy="4156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76600"/>
              </a:tblGrid>
              <a:tr h="59306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Application Layer</a:t>
                      </a:r>
                      <a:endParaRPr lang="en-US" sz="2400" b="1" dirty="0"/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306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Inference Layer (IL)</a:t>
                      </a:r>
                      <a:endParaRPr lang="en-US" sz="2400" b="1" dirty="0"/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9646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Evidence collection layer (EL)</a:t>
                      </a:r>
                      <a:endParaRPr lang="en-US" sz="2400" b="1" dirty="0"/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1008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Compression Layer</a:t>
                      </a:r>
                    </a:p>
                    <a:p>
                      <a:endParaRPr lang="en-US" sz="1800" b="0" dirty="0"/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93061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Mapping</a:t>
                      </a:r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16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smtClean="0"/>
                        <a:t>Instrument Layer</a:t>
                      </a:r>
                    </a:p>
                    <a:p>
                      <a:endParaRPr lang="en-US" sz="2400" b="1" dirty="0" smtClean="0"/>
                    </a:p>
                  </a:txBody>
                  <a:tcPr marL="112705" marR="112705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6" name="Content Placeholder 15"/>
          <p:cNvSpPr>
            <a:spLocks noGrp="1"/>
          </p:cNvSpPr>
          <p:nvPr>
            <p:ph sz="half" idx="2"/>
          </p:nvPr>
        </p:nvSpPr>
        <p:spPr>
          <a:xfrm>
            <a:off x="152400" y="1600201"/>
            <a:ext cx="4648200" cy="4191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Currently, layering is not explicit.</a:t>
            </a:r>
          </a:p>
          <a:p>
            <a:pPr lvl="1"/>
            <a:r>
              <a:rPr lang="en-US" dirty="0" smtClean="0"/>
              <a:t> Software blocks encompass multiple layers.</a:t>
            </a:r>
          </a:p>
          <a:p>
            <a:pPr lvl="1"/>
            <a:r>
              <a:rPr lang="en-US" dirty="0" smtClean="0"/>
              <a:t>There is some movement toward layering</a:t>
            </a:r>
          </a:p>
          <a:p>
            <a:r>
              <a:rPr lang="en-US" dirty="0" smtClean="0"/>
              <a:t>Ex: Haussler’s proposal seeks to separate mapping and instrumentation layers</a:t>
            </a:r>
          </a:p>
          <a:p>
            <a:pPr lvl="1"/>
            <a:r>
              <a:rPr lang="en-US" dirty="0" smtClean="0"/>
              <a:t>Mapping algorithms would work on fragments with a single, instrument independent error model.</a:t>
            </a:r>
          </a:p>
          <a:p>
            <a:r>
              <a:rPr lang="en-US" dirty="0" err="1" smtClean="0"/>
              <a:t>SAMtools</a:t>
            </a:r>
            <a:r>
              <a:rPr lang="en-US" dirty="0" smtClean="0"/>
              <a:t> separate mapping from higher layers</a:t>
            </a:r>
          </a:p>
          <a:p>
            <a:r>
              <a:rPr lang="en-US" i="1" dirty="0" smtClean="0"/>
              <a:t>Our proposal: separate inference layer from evidence collection layer.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proposal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We separate EL and IL, and focus on EL</a:t>
            </a:r>
          </a:p>
          <a:p>
            <a:r>
              <a:rPr lang="en-US" dirty="0" smtClean="0"/>
              <a:t>Recall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Evidence collection: collect all relevant DNA that potentially provides evidence for the variation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Inference: statistical hypothesis testing on the evidence to  make ‘calls’</a:t>
            </a:r>
          </a:p>
          <a:p>
            <a:pPr marL="571500" indent="-514350"/>
            <a:r>
              <a:rPr lang="en-US" dirty="0" smtClean="0"/>
              <a:t>Little consensus on inference</a:t>
            </a:r>
          </a:p>
          <a:p>
            <a:pPr marL="971550" lvl="1" indent="-514350"/>
            <a:r>
              <a:rPr lang="en-US" dirty="0" smtClean="0"/>
              <a:t>Competing statistical techniques</a:t>
            </a:r>
          </a:p>
          <a:p>
            <a:pPr marL="971550" lvl="1" indent="-514350"/>
            <a:r>
              <a:rPr lang="en-US" dirty="0" smtClean="0"/>
              <a:t>Current tools merge evidence and inference</a:t>
            </a:r>
          </a:p>
          <a:p>
            <a:pPr marL="971550" lvl="1" indent="-514350"/>
            <a:r>
              <a:rPr lang="en-US" dirty="0" smtClean="0"/>
              <a:t>Non-unified: different queries =&gt; different tools</a:t>
            </a:r>
          </a:p>
          <a:p>
            <a:pPr marL="571500" indent="-514350"/>
            <a:r>
              <a:rPr lang="en-US" dirty="0" smtClean="0"/>
              <a:t>By contrast, evidence collection is less controversial</a:t>
            </a:r>
          </a:p>
          <a:p>
            <a:pPr marL="971550" lvl="1" indent="-514350"/>
            <a:r>
              <a:rPr lang="en-US" dirty="0" smtClean="0"/>
              <a:t>Unified framework for most queries</a:t>
            </a:r>
          </a:p>
          <a:p>
            <a:pPr marL="971550" lvl="1" indent="-514350"/>
            <a:r>
              <a:rPr lang="en-US" dirty="0" smtClean="0"/>
              <a:t>Focus on efficiency (core expertise)</a:t>
            </a:r>
          </a:p>
          <a:p>
            <a:pPr marL="571500" indent="-514350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 of Rest of 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Layering</a:t>
            </a:r>
          </a:p>
          <a:p>
            <a:pPr marL="971550" lvl="1" indent="-571500">
              <a:buFont typeface="+mj-lt"/>
              <a:buAutoNum type="alphaLcParenR"/>
            </a:pPr>
            <a:r>
              <a:rPr lang="en-US" dirty="0" smtClean="0"/>
              <a:t>A brief note on the Application layer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Examples to motivate separation between EL and IL </a:t>
            </a:r>
          </a:p>
          <a:p>
            <a:pPr marL="971550" lvl="1" indent="-571500">
              <a:buFont typeface="+mj-lt"/>
              <a:buAutoNum type="alphaLcParenR"/>
            </a:pPr>
            <a:r>
              <a:rPr lang="en-US" dirty="0" err="1" smtClean="0"/>
              <a:t>SNPs</a:t>
            </a:r>
            <a:endParaRPr lang="en-US" dirty="0" smtClean="0"/>
          </a:p>
          <a:p>
            <a:pPr marL="971550" lvl="1" indent="-571500">
              <a:buFont typeface="+mj-lt"/>
              <a:buAutoNum type="alphaLcParenR"/>
            </a:pPr>
            <a:r>
              <a:rPr lang="en-US" dirty="0" smtClean="0"/>
              <a:t>Large deletions</a:t>
            </a:r>
          </a:p>
          <a:p>
            <a:pPr marL="971550" lvl="1" indent="-571500">
              <a:buFont typeface="+mj-lt"/>
              <a:buAutoNum type="alphaLcParenR"/>
            </a:pPr>
            <a:r>
              <a:rPr lang="en-US" dirty="0" smtClean="0"/>
              <a:t>Copy Number changes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A proposed API for EL that will support IL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Proposed mechanisms to speed up API calls, interaction with compressed BAM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 smtClean="0"/>
              <a:t>Generalizations to functional genomics (RNA transcripts and CHIP </a:t>
            </a:r>
            <a:r>
              <a:rPr lang="en-US" dirty="0" err="1" smtClean="0"/>
              <a:t>Seq</a:t>
            </a:r>
            <a:r>
              <a:rPr lang="en-US" dirty="0" smtClean="0"/>
              <a:t>)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1905000"/>
            <a:ext cx="7772400" cy="1362075"/>
          </a:xfrm>
        </p:spPr>
        <p:txBody>
          <a:bodyPr/>
          <a:lstStyle/>
          <a:p>
            <a:r>
              <a:rPr lang="en-US" dirty="0" err="1" smtClean="0">
                <a:latin typeface="+mn-lt"/>
              </a:rPr>
              <a:t>Ia</a:t>
            </a:r>
            <a:r>
              <a:rPr lang="en-US" dirty="0" smtClean="0">
                <a:latin typeface="+mn-lt"/>
              </a:rPr>
              <a:t>:</a:t>
            </a:r>
            <a:r>
              <a:rPr lang="en-US" dirty="0" smtClean="0"/>
              <a:t> A brief note on AL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applications that use the IL often work in two modes</a:t>
            </a:r>
          </a:p>
          <a:p>
            <a:pPr lvl="1"/>
            <a:r>
              <a:rPr lang="en-US" dirty="0" smtClean="0"/>
              <a:t>Discovery/scan mode: Ex: discover all </a:t>
            </a:r>
            <a:r>
              <a:rPr lang="en-US" dirty="0" err="1" smtClean="0"/>
              <a:t>SNPs</a:t>
            </a:r>
            <a:r>
              <a:rPr lang="en-US" dirty="0" smtClean="0"/>
              <a:t> from this cohort of individuals</a:t>
            </a:r>
          </a:p>
          <a:p>
            <a:pPr lvl="1"/>
            <a:r>
              <a:rPr lang="en-US" dirty="0" smtClean="0"/>
              <a:t>Query mode: Ex: associate the genotypes against phenotypes in a case-control collection of individuals at locus </a:t>
            </a:r>
            <a:r>
              <a:rPr lang="en-US" dirty="0" err="1" smtClean="0"/>
              <a:t>x</a:t>
            </a:r>
            <a:r>
              <a:rPr lang="en-US" dirty="0" smtClean="0"/>
              <a:t>?</a:t>
            </a:r>
          </a:p>
          <a:p>
            <a:r>
              <a:rPr lang="en-US" dirty="0" smtClean="0"/>
              <a:t>In the query mode:</a:t>
            </a:r>
          </a:p>
          <a:p>
            <a:pPr lvl="1"/>
            <a:r>
              <a:rPr lang="en-US" dirty="0" smtClean="0"/>
              <a:t>The EL will efficiently provide fragments (and alignment) at locus </a:t>
            </a:r>
            <a:r>
              <a:rPr lang="en-US" dirty="0" err="1" smtClean="0"/>
              <a:t>x</a:t>
            </a:r>
            <a:endParaRPr lang="en-US" dirty="0" smtClean="0"/>
          </a:p>
          <a:p>
            <a:pPr lvl="1"/>
            <a:r>
              <a:rPr lang="en-US" dirty="0" smtClean="0"/>
              <a:t>The IL will use the evidence to make genotype calls.</a:t>
            </a:r>
          </a:p>
          <a:p>
            <a:r>
              <a:rPr lang="en-US" dirty="0" smtClean="0"/>
              <a:t>In the scan mode:</a:t>
            </a:r>
          </a:p>
          <a:p>
            <a:pPr lvl="1"/>
            <a:r>
              <a:rPr lang="en-US" dirty="0" smtClean="0"/>
              <a:t>The EL will provide fragments, in a block-by-block fashion</a:t>
            </a:r>
          </a:p>
          <a:p>
            <a:pPr lvl="1"/>
            <a:r>
              <a:rPr lang="en-US" dirty="0" smtClean="0"/>
              <a:t>The IL does not change</a:t>
            </a:r>
          </a:p>
          <a:p>
            <a:r>
              <a:rPr lang="en-US" dirty="0" smtClean="0"/>
              <a:t>Here, we take examples to show how the EL can be separated from IL, and can  support scan and query modes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438400"/>
            <a:ext cx="7772400" cy="1362075"/>
          </a:xfrm>
        </p:spPr>
        <p:txBody>
          <a:bodyPr>
            <a:normAutofit/>
          </a:bodyPr>
          <a:lstStyle/>
          <a:p>
            <a:r>
              <a:rPr lang="en-US" dirty="0" smtClean="0"/>
              <a:t>II. Separation of Evidence and Inference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/>
                <a:cs typeface="Times New Roman"/>
              </a:rPr>
              <a:t>IIa</a:t>
            </a:r>
            <a:r>
              <a:rPr lang="en-US" dirty="0" smtClean="0"/>
              <a:t>: SNPs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943600" cy="36933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     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2667000"/>
            <a:ext cx="594360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    C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62800" y="190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315200" y="2590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Subject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819400" y="3429000"/>
            <a:ext cx="14478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C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00400" y="3886200"/>
            <a:ext cx="14478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A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733800" y="4419600"/>
            <a:ext cx="14478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C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505200" y="4953000"/>
            <a:ext cx="14478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C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657600" y="1524000"/>
            <a:ext cx="609600" cy="4343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72000" y="5791200"/>
            <a:ext cx="436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Pileups (as in </a:t>
            </a:r>
            <a:r>
              <a:rPr lang="en-US" dirty="0" err="1" smtClean="0"/>
              <a:t>SAMTools</a:t>
            </a:r>
            <a:r>
              <a:rPr lang="en-US" dirty="0" smtClean="0"/>
              <a:t>): all alleles at locus X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rot="5400000">
            <a:off x="1562100" y="4533900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600" y="4419600"/>
            <a:ext cx="223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overlapping READs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239000" y="4343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Evidence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SNP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EL: return all overlapping reads</a:t>
            </a:r>
          </a:p>
          <a:p>
            <a:r>
              <a:rPr lang="en-US" dirty="0" smtClean="0"/>
              <a:t>IL: Statistical/heuristic inference is done to rule out standard confounding factors:</a:t>
            </a:r>
          </a:p>
          <a:p>
            <a:pPr lvl="1"/>
            <a:r>
              <a:rPr lang="en-US" dirty="0" smtClean="0"/>
              <a:t>Machine errors at location X</a:t>
            </a:r>
          </a:p>
          <a:p>
            <a:pPr lvl="1"/>
            <a:r>
              <a:rPr lang="en-US" dirty="0" smtClean="0"/>
              <a:t>Mapping errors: mapped to wrong location</a:t>
            </a:r>
          </a:p>
          <a:p>
            <a:pPr lvl="1"/>
            <a:r>
              <a:rPr lang="en-US" dirty="0" err="1" smtClean="0"/>
              <a:t>Zygocity</a:t>
            </a:r>
            <a:r>
              <a:rPr lang="en-US" dirty="0" smtClean="0"/>
              <a:t>: subject has only  one copy with SNP</a:t>
            </a:r>
          </a:p>
          <a:p>
            <a:r>
              <a:rPr lang="en-US" dirty="0" smtClean="0"/>
              <a:t>SNP callers vary in the way they handle these (inference) but evidence is same (overlapping READs and allele distribution for a location) </a:t>
            </a:r>
          </a:p>
          <a:p>
            <a:r>
              <a:rPr lang="en-US" dirty="0" smtClean="0"/>
              <a:t>The EL implementation must support query and scan modes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 Queries for SNPs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Discovery Mode: Find all locations where number at least A alleles occur at least S times</a:t>
            </a:r>
          </a:p>
          <a:p>
            <a:r>
              <a:rPr lang="en-US" dirty="0" smtClean="0"/>
              <a:t>Query Mode: </a:t>
            </a:r>
          </a:p>
          <a:p>
            <a:pPr lvl="1"/>
            <a:r>
              <a:rPr lang="en-US" dirty="0" smtClean="0"/>
              <a:t>Pileup: For locus X, return allele distribution</a:t>
            </a:r>
          </a:p>
          <a:p>
            <a:pPr lvl="1"/>
            <a:r>
              <a:rPr lang="en-US" dirty="0" smtClean="0"/>
              <a:t>Evidence: Return all READs that overlap location X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/>
                <a:cs typeface="Times New Roman"/>
              </a:rPr>
              <a:t>IIb</a:t>
            </a:r>
            <a:r>
              <a:rPr lang="en-US" dirty="0" smtClean="0"/>
              <a:t>: Deletions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943600" cy="36933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   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90600" y="2667000"/>
            <a:ext cx="5257800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                                   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62800" y="190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315200" y="2590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Subject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371600" y="3962400"/>
            <a:ext cx="1447800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362200" y="4953000"/>
            <a:ext cx="1447800" cy="3810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419600" y="4876800"/>
            <a:ext cx="1447800" cy="381000"/>
          </a:xfrm>
          <a:prstGeom prst="rect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 rot="5400000">
            <a:off x="-876300" y="4533900"/>
            <a:ext cx="2209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8600" y="4419600"/>
            <a:ext cx="2113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All discrepant READs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239000" y="4343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Evidence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3352800" y="1828800"/>
            <a:ext cx="838200" cy="381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2667000"/>
            <a:ext cx="2438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1000" y="1828800"/>
            <a:ext cx="26670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14400" y="1828800"/>
            <a:ext cx="2438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429000" y="2667000"/>
            <a:ext cx="28194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905000" y="3276600"/>
            <a:ext cx="1447800" cy="381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886200" y="3276600"/>
            <a:ext cx="1447800" cy="381000"/>
          </a:xfrm>
          <a:prstGeom prst="rect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       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733800" y="3962400"/>
            <a:ext cx="1447800" cy="381000"/>
          </a:xfrm>
          <a:prstGeom prst="rect">
            <a:avLst/>
          </a:prstGeom>
          <a:solidFill>
            <a:srgbClr val="FFFF00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362200" y="4953000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352800" y="4953000"/>
            <a:ext cx="457200" cy="3810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/>
          <p:nvPr/>
        </p:nvCxnSpPr>
        <p:spPr>
          <a:xfrm rot="5400000" flipH="1" flipV="1">
            <a:off x="2247900" y="27051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 flipH="1" flipV="1">
            <a:off x="4267994" y="2742406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429000" y="3429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2743200" y="23622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29000" y="3429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3429000" y="23622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&gt; 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IL: Statistical/heuristic inference is done to rule out standard confounding factors:</a:t>
            </a:r>
          </a:p>
          <a:p>
            <a:pPr lvl="1"/>
            <a:r>
              <a:rPr lang="en-US" dirty="0" smtClean="0"/>
              <a:t>Machine errors: location errors plus distance between pairs varies from X</a:t>
            </a:r>
          </a:p>
          <a:p>
            <a:pPr lvl="1"/>
            <a:r>
              <a:rPr lang="en-US" dirty="0" smtClean="0"/>
              <a:t>Mapping errors: mapped to wrong location; mapped to multiple locations</a:t>
            </a:r>
          </a:p>
          <a:p>
            <a:pPr lvl="1"/>
            <a:r>
              <a:rPr lang="en-US" dirty="0" err="1" smtClean="0"/>
              <a:t>Zygocity</a:t>
            </a:r>
            <a:r>
              <a:rPr lang="en-US" dirty="0" smtClean="0"/>
              <a:t>: the inference depends on whether the subject has one  or more copies with deletion</a:t>
            </a:r>
          </a:p>
          <a:p>
            <a:r>
              <a:rPr lang="en-US" dirty="0" smtClean="0"/>
              <a:t>EL: SNP callers vary in the way they handle these (inference) but evidence is same (discrepant READs in some region) </a:t>
            </a:r>
          </a:p>
          <a:p>
            <a:r>
              <a:rPr lang="en-US" dirty="0" smtClean="0"/>
              <a:t>Additional evidence: lack of mapping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 Queries for Deletions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Notes:</a:t>
            </a:r>
          </a:p>
          <a:p>
            <a:pPr lvl="1"/>
            <a:r>
              <a:rPr lang="en-US" dirty="0" smtClean="0"/>
              <a:t>We define discrepancy based on distance between paired-ends.</a:t>
            </a:r>
          </a:p>
          <a:p>
            <a:pPr lvl="1"/>
            <a:r>
              <a:rPr lang="en-US" dirty="0" smtClean="0"/>
              <a:t>Define a breakpoint as two non-adjacent bases in the reference that come together in the sample.  Deletions are characterized by one breakpoint.</a:t>
            </a:r>
          </a:p>
          <a:p>
            <a:r>
              <a:rPr lang="en-US" dirty="0" smtClean="0"/>
              <a:t>Discovery Mode: Find all regions where number at least T discrepant READS occur </a:t>
            </a:r>
          </a:p>
          <a:p>
            <a:r>
              <a:rPr lang="en-US" dirty="0" smtClean="0"/>
              <a:t>Query Mode: </a:t>
            </a:r>
          </a:p>
          <a:p>
            <a:pPr lvl="1"/>
            <a:r>
              <a:rPr lang="en-US" dirty="0" smtClean="0"/>
              <a:t>Direct: For region [X,Y] return all discrepant READs</a:t>
            </a:r>
          </a:p>
          <a:p>
            <a:pPr lvl="1"/>
            <a:r>
              <a:rPr lang="en-US" dirty="0" smtClean="0"/>
              <a:t>Evidence: Return all </a:t>
            </a:r>
            <a:r>
              <a:rPr lang="en-US" dirty="0" err="1" smtClean="0"/>
              <a:t>READs</a:t>
            </a:r>
            <a:r>
              <a:rPr lang="en-US" dirty="0" smtClean="0"/>
              <a:t> mapping to [X,Y]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               Return all concordant READS in [X,Y]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(complex):  Return all </a:t>
            </a:r>
            <a:r>
              <a:rPr lang="en-US" dirty="0" err="1" smtClean="0"/>
              <a:t>READs</a:t>
            </a:r>
            <a:r>
              <a:rPr lang="en-US" dirty="0" smtClean="0"/>
              <a:t> with keyword matches of length W in the region [X, Y] longest prefix </a:t>
            </a:r>
          </a:p>
          <a:p>
            <a:pPr lvl="1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Inversion</a:t>
            </a:r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752600" y="5561011"/>
            <a:ext cx="4953000" cy="1589"/>
            <a:chOff x="1752600" y="3122611"/>
            <a:chExt cx="4953000" cy="1589"/>
          </a:xfrm>
        </p:grpSpPr>
        <p:cxnSp>
          <p:nvCxnSpPr>
            <p:cNvPr id="9" name="Straight Connector 8"/>
            <p:cNvCxnSpPr/>
            <p:nvPr/>
          </p:nvCxnSpPr>
          <p:spPr>
            <a:xfrm rot="10800000">
              <a:off x="3505200" y="3122611"/>
              <a:ext cx="13716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752600" y="31226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953000" y="31226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2895600" y="5256212"/>
            <a:ext cx="1198200" cy="230188"/>
            <a:chOff x="3048000" y="4800600"/>
            <a:chExt cx="1198200" cy="230188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048000" y="50292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886200" y="50276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3352800" y="4800600"/>
              <a:ext cx="533400" cy="228600"/>
              <a:chOff x="3352800" y="4800600"/>
              <a:chExt cx="533400" cy="228600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rot="5400000" flipH="1" flipV="1">
                <a:off x="3352800" y="4800600"/>
                <a:ext cx="228600" cy="2286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3581400" y="4800600"/>
                <a:ext cx="304800" cy="2286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" name="Group 31"/>
          <p:cNvGrpSpPr/>
          <p:nvPr/>
        </p:nvGrpSpPr>
        <p:grpSpPr>
          <a:xfrm>
            <a:off x="3069000" y="5180012"/>
            <a:ext cx="1198200" cy="230188"/>
            <a:chOff x="3048000" y="4800600"/>
            <a:chExt cx="1198200" cy="230188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3048000" y="50292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3886200" y="50276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29"/>
            <p:cNvGrpSpPr/>
            <p:nvPr/>
          </p:nvGrpSpPr>
          <p:grpSpPr>
            <a:xfrm>
              <a:off x="3352800" y="4800600"/>
              <a:ext cx="533400" cy="228600"/>
              <a:chOff x="3352800" y="4800600"/>
              <a:chExt cx="533400" cy="228600"/>
            </a:xfrm>
          </p:grpSpPr>
          <p:cxnSp>
            <p:nvCxnSpPr>
              <p:cNvPr id="36" name="Straight Connector 35"/>
              <p:cNvCxnSpPr/>
              <p:nvPr/>
            </p:nvCxnSpPr>
            <p:spPr>
              <a:xfrm rot="5400000" flipH="1" flipV="1">
                <a:off x="3352800" y="4800600"/>
                <a:ext cx="228600" cy="2286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>
                <a:off x="3581400" y="4800600"/>
                <a:ext cx="304800" cy="22860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9" name="Straight Connector 38"/>
          <p:cNvCxnSpPr/>
          <p:nvPr/>
        </p:nvCxnSpPr>
        <p:spPr>
          <a:xfrm>
            <a:off x="5257800" y="5408612"/>
            <a:ext cx="3048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419600" y="5407024"/>
            <a:ext cx="360000" cy="1588"/>
          </a:xfrm>
          <a:prstGeom prst="line">
            <a:avLst/>
          </a:prstGeom>
          <a:ln>
            <a:solidFill>
              <a:srgbClr val="FF0000"/>
            </a:solidFill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29"/>
          <p:cNvGrpSpPr/>
          <p:nvPr/>
        </p:nvGrpSpPr>
        <p:grpSpPr>
          <a:xfrm>
            <a:off x="4745400" y="5180012"/>
            <a:ext cx="533400" cy="228600"/>
            <a:chOff x="3352800" y="4800600"/>
            <a:chExt cx="533400" cy="228600"/>
          </a:xfrm>
        </p:grpSpPr>
        <p:cxnSp>
          <p:nvCxnSpPr>
            <p:cNvPr id="42" name="Straight Connector 41"/>
            <p:cNvCxnSpPr/>
            <p:nvPr/>
          </p:nvCxnSpPr>
          <p:spPr>
            <a:xfrm rot="5400000" flipH="1" flipV="1">
              <a:off x="3352800" y="4800600"/>
              <a:ext cx="228600" cy="2286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581400" y="4800600"/>
              <a:ext cx="304800" cy="2286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1752600" y="1676400"/>
            <a:ext cx="4953000" cy="534988"/>
            <a:chOff x="1752600" y="1676400"/>
            <a:chExt cx="4953000" cy="534988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752600" y="2209800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953000" y="2209800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505200" y="2209800"/>
              <a:ext cx="13716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048000" y="2057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4288200" y="20574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V="1">
              <a:off x="3352800" y="16764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962400" y="16764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TextBox 50"/>
          <p:cNvSpPr txBox="1"/>
          <p:nvPr/>
        </p:nvSpPr>
        <p:spPr>
          <a:xfrm>
            <a:off x="3429000" y="4876800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R1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5135605" y="4888468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R2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4648200" y="1600200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R2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3276600" y="1535668"/>
            <a:ext cx="426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R1</a:t>
            </a:r>
            <a:endParaRPr lang="en-US" dirty="0"/>
          </a:p>
        </p:txBody>
      </p:sp>
      <p:grpSp>
        <p:nvGrpSpPr>
          <p:cNvPr id="71" name="Group 70"/>
          <p:cNvGrpSpPr/>
          <p:nvPr/>
        </p:nvGrpSpPr>
        <p:grpSpPr>
          <a:xfrm>
            <a:off x="3657600" y="1676400"/>
            <a:ext cx="1600200" cy="382588"/>
            <a:chOff x="3657600" y="1676400"/>
            <a:chExt cx="1600200" cy="382588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4267200" y="16764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678600" y="20574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3657600" y="16764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4953000" y="2057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/>
          <p:cNvSpPr txBox="1"/>
          <p:nvPr/>
        </p:nvSpPr>
        <p:spPr>
          <a:xfrm>
            <a:off x="4819261" y="2743200"/>
            <a:ext cx="1940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Reference genome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840204" y="3897868"/>
            <a:ext cx="156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Sampled reads</a:t>
            </a:r>
            <a:endParaRPr lang="en-US" dirty="0"/>
          </a:p>
        </p:txBody>
      </p:sp>
      <p:cxnSp>
        <p:nvCxnSpPr>
          <p:cNvPr id="62" name="Straight Arrow Connector 61"/>
          <p:cNvCxnSpPr/>
          <p:nvPr/>
        </p:nvCxnSpPr>
        <p:spPr>
          <a:xfrm rot="16200000" flipV="1">
            <a:off x="4648200" y="2438400"/>
            <a:ext cx="457200" cy="304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>
            <a:off x="4419600" y="4419600"/>
            <a:ext cx="838200" cy="6858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142928" y="1219200"/>
            <a:ext cx="1537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Mapped reads</a:t>
            </a:r>
            <a:endParaRPr lang="en-US" dirty="0"/>
          </a:p>
        </p:txBody>
      </p:sp>
      <p:cxnSp>
        <p:nvCxnSpPr>
          <p:cNvPr id="66" name="Straight Arrow Connector 65"/>
          <p:cNvCxnSpPr/>
          <p:nvPr/>
        </p:nvCxnSpPr>
        <p:spPr>
          <a:xfrm rot="10800000" flipV="1">
            <a:off x="4495800" y="1447800"/>
            <a:ext cx="685800" cy="228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724400" y="5650468"/>
            <a:ext cx="275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Sample genome (unknown)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Calling inversions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IL: The issues are very similar to deletions. We have to get discrepant reads for each breakpoint:</a:t>
            </a:r>
          </a:p>
          <a:p>
            <a:pPr lvl="1"/>
            <a:r>
              <a:rPr lang="en-US" dirty="0" smtClean="0"/>
              <a:t>Machine errors: location errors plus distance between pairs varies from X</a:t>
            </a:r>
          </a:p>
          <a:p>
            <a:pPr lvl="1"/>
            <a:r>
              <a:rPr lang="en-US" dirty="0" smtClean="0"/>
              <a:t>Mapping errors: mapped to wrong location; mapped to multiple locations</a:t>
            </a:r>
          </a:p>
          <a:p>
            <a:pPr lvl="1"/>
            <a:r>
              <a:rPr lang="en-US" dirty="0" err="1" smtClean="0"/>
              <a:t>Zygocity</a:t>
            </a:r>
            <a:r>
              <a:rPr lang="en-US" dirty="0" smtClean="0"/>
              <a:t>: the inference depends on whether the subject has one  or more copies with inversion</a:t>
            </a:r>
          </a:p>
          <a:p>
            <a:r>
              <a:rPr lang="en-US" dirty="0" smtClean="0"/>
              <a:t>EL: Once again, the goal is to get all the discordant and concordant reads to make the inference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 queries for inversions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Notes:</a:t>
            </a:r>
          </a:p>
          <a:p>
            <a:pPr lvl="1"/>
            <a:r>
              <a:rPr lang="en-US" dirty="0" smtClean="0"/>
              <a:t>We define discrepancy based on orientation.</a:t>
            </a:r>
          </a:p>
          <a:p>
            <a:pPr lvl="1"/>
            <a:r>
              <a:rPr lang="en-US" dirty="0" smtClean="0"/>
              <a:t>Define a breakpoint as two non-adjacent bases in the reference that come together in the sample.  For inversions, two breakpoints are needed, instead of one breakpoint.</a:t>
            </a:r>
          </a:p>
          <a:p>
            <a:r>
              <a:rPr lang="en-US" dirty="0" smtClean="0"/>
              <a:t>Discovery Mode: </a:t>
            </a:r>
          </a:p>
          <a:p>
            <a:pPr lvl="1"/>
            <a:r>
              <a:rPr lang="en-US" dirty="0" smtClean="0"/>
              <a:t>Find all pairs of breakpoints, where at least T discrepant READS occur.</a:t>
            </a:r>
          </a:p>
          <a:p>
            <a:r>
              <a:rPr lang="en-US" dirty="0" smtClean="0"/>
              <a:t>Query Mode: </a:t>
            </a:r>
          </a:p>
          <a:p>
            <a:pPr lvl="1"/>
            <a:r>
              <a:rPr lang="en-US" dirty="0" smtClean="0"/>
              <a:t>Direct: For region [X,Y] find all breakpoint pairs that support inversion with at least T reads on each breakpoint.</a:t>
            </a:r>
          </a:p>
          <a:p>
            <a:pPr lvl="1"/>
            <a:r>
              <a:rPr lang="en-US" dirty="0" smtClean="0"/>
              <a:t>Evidence: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 for inversion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Possible steps:</a:t>
            </a:r>
          </a:p>
          <a:p>
            <a:pPr lvl="1"/>
            <a:r>
              <a:rPr lang="en-US" dirty="0" smtClean="0"/>
              <a:t>Find all regions which have sufficient reads supporting an inversion breakpoint </a:t>
            </a:r>
            <a:r>
              <a:rPr lang="en-US" dirty="0" err="1" smtClean="0"/>
              <a:t>x</a:t>
            </a:r>
            <a:r>
              <a:rPr lang="en-US" dirty="0" smtClean="0"/>
              <a:t>.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Based on the location of </a:t>
            </a:r>
            <a:r>
              <a:rPr lang="en-US" dirty="0" err="1" smtClean="0"/>
              <a:t>x</a:t>
            </a:r>
            <a:r>
              <a:rPr lang="en-US" dirty="0" smtClean="0"/>
              <a:t>, and the partners of the reads, find reads supporting the second breakpoint.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1752600" y="3808412"/>
            <a:ext cx="4953000" cy="1588"/>
            <a:chOff x="1752600" y="3808412"/>
            <a:chExt cx="4953000" cy="1588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1752600" y="38084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953000" y="38084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505200" y="3808412"/>
              <a:ext cx="13716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048000" y="3275012"/>
            <a:ext cx="1600200" cy="382588"/>
            <a:chOff x="3048000" y="3275012"/>
            <a:chExt cx="1600200" cy="382588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0" y="3656012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288200" y="36560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3352800" y="3275012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962400" y="3275012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3124200" y="3351212"/>
            <a:ext cx="1600200" cy="382588"/>
            <a:chOff x="3048000" y="3275012"/>
            <a:chExt cx="1600200" cy="382588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3048000" y="3656012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288200" y="36560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3352800" y="3275012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3962400" y="3275012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971800" y="3198812"/>
            <a:ext cx="1600200" cy="382588"/>
            <a:chOff x="3048000" y="3275012"/>
            <a:chExt cx="1600200" cy="382588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048000" y="3656012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288200" y="36560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3352800" y="3275012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62400" y="3275012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3370342" y="373380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x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905000" y="6018212"/>
            <a:ext cx="4953000" cy="1588"/>
            <a:chOff x="1752600" y="3808412"/>
            <a:chExt cx="4953000" cy="1588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1752600" y="38084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4953000" y="3808412"/>
              <a:ext cx="17526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505200" y="3808412"/>
              <a:ext cx="13716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3276600" y="5561012"/>
            <a:ext cx="1600200" cy="382588"/>
            <a:chOff x="3048000" y="3275012"/>
            <a:chExt cx="1600200" cy="382588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048000" y="3656012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4288200" y="3656012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3352800" y="3275012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3962400" y="3275012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/>
          <p:cNvGrpSpPr/>
          <p:nvPr/>
        </p:nvGrpSpPr>
        <p:grpSpPr>
          <a:xfrm>
            <a:off x="3733800" y="5561012"/>
            <a:ext cx="1600200" cy="382588"/>
            <a:chOff x="3657600" y="1676400"/>
            <a:chExt cx="1600200" cy="382588"/>
          </a:xfrm>
        </p:grpSpPr>
        <p:cxnSp>
          <p:nvCxnSpPr>
            <p:cNvPr id="35" name="Straight Connector 34"/>
            <p:cNvCxnSpPr/>
            <p:nvPr/>
          </p:nvCxnSpPr>
          <p:spPr>
            <a:xfrm>
              <a:off x="4267200" y="16764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678600" y="20574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657600" y="16764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953000" y="2057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3657600" y="5484812"/>
            <a:ext cx="1600200" cy="382588"/>
            <a:chOff x="3657600" y="1676400"/>
            <a:chExt cx="1600200" cy="382588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4267200" y="16764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678600" y="20574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3657600" y="16764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4953000" y="2057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3581400" y="5408612"/>
            <a:ext cx="1600200" cy="382588"/>
            <a:chOff x="3657600" y="1676400"/>
            <a:chExt cx="1600200" cy="382588"/>
          </a:xfrm>
        </p:grpSpPr>
        <p:cxnSp>
          <p:nvCxnSpPr>
            <p:cNvPr id="45" name="Straight Connector 44"/>
            <p:cNvCxnSpPr/>
            <p:nvPr/>
          </p:nvCxnSpPr>
          <p:spPr>
            <a:xfrm>
              <a:off x="4267200" y="16764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678600" y="20574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3657600" y="16764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953000" y="2057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III. Proposed API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API for an individual (will also support population)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 smtClean="0">
                <a:latin typeface="Arial"/>
                <a:cs typeface="Arial"/>
              </a:rPr>
              <a:t>Partner </a:t>
            </a:r>
            <a:r>
              <a:rPr lang="en-US" dirty="0" smtClean="0">
                <a:latin typeface="Arial"/>
                <a:cs typeface="Arial"/>
              </a:rPr>
              <a:t>(fragments F): returns all partners of all fragments in F. Works for Pac Biol. strobe-sequences etc.</a:t>
            </a: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r>
              <a:rPr lang="en-US" i="1" dirty="0" err="1" smtClean="0">
                <a:latin typeface="Arial"/>
                <a:cs typeface="Arial"/>
              </a:rPr>
              <a:t>BestMap</a:t>
            </a:r>
            <a:r>
              <a:rPr lang="en-US" dirty="0" smtClean="0">
                <a:latin typeface="Arial"/>
                <a:cs typeface="Arial"/>
              </a:rPr>
              <a:t> (fragments F): 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Returns location of the best map of read fragments F, and compressed alignment information</a:t>
            </a: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r>
              <a:rPr lang="en-US" i="1" dirty="0" err="1" smtClean="0">
                <a:latin typeface="Arial"/>
                <a:cs typeface="Arial"/>
              </a:rPr>
              <a:t>AllMap</a:t>
            </a:r>
            <a:r>
              <a:rPr lang="en-US" dirty="0" smtClean="0">
                <a:latin typeface="Arial"/>
                <a:cs typeface="Arial"/>
              </a:rPr>
              <a:t> (fragments F, Threshold </a:t>
            </a:r>
            <a:r>
              <a:rPr lang="en-US" dirty="0" err="1" smtClean="0">
                <a:latin typeface="Arial"/>
                <a:cs typeface="Arial"/>
              </a:rPr>
              <a:t>t</a:t>
            </a:r>
            <a:r>
              <a:rPr lang="en-US" dirty="0" smtClean="0">
                <a:latin typeface="Arial"/>
                <a:cs typeface="Arial"/>
              </a:rPr>
              <a:t>)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All mappings of a fragment.</a:t>
            </a:r>
          </a:p>
          <a:p>
            <a:endParaRPr lang="en-US" dirty="0" smtClean="0">
              <a:latin typeface="Arial"/>
              <a:cs typeface="Arial"/>
            </a:endParaRPr>
          </a:p>
          <a:p>
            <a:r>
              <a:rPr lang="en-US" i="1" dirty="0" smtClean="0">
                <a:latin typeface="Arial"/>
                <a:cs typeface="Arial"/>
              </a:rPr>
              <a:t>Cluster</a:t>
            </a:r>
            <a:r>
              <a:rPr lang="en-US" dirty="0" smtClean="0">
                <a:latin typeface="Arial"/>
                <a:cs typeface="Arial"/>
              </a:rPr>
              <a:t> (Fragments F)</a:t>
            </a:r>
          </a:p>
          <a:p>
            <a:pPr lvl="1"/>
            <a:r>
              <a:rPr lang="en-US" dirty="0" smtClean="0">
                <a:latin typeface="Arial"/>
                <a:cs typeface="Arial"/>
              </a:rPr>
              <a:t>Partition the set of fragments according to overlapping </a:t>
            </a:r>
            <a:r>
              <a:rPr lang="en-US" dirty="0" err="1" smtClean="0">
                <a:latin typeface="Arial"/>
                <a:cs typeface="Arial"/>
              </a:rPr>
              <a:t>bestmap</a:t>
            </a:r>
            <a:r>
              <a:rPr lang="en-US" dirty="0" smtClean="0">
                <a:latin typeface="Arial"/>
                <a:cs typeface="Arial"/>
              </a:rPr>
              <a:t> locations.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124200" y="2743200"/>
            <a:ext cx="3048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745400" y="2743200"/>
            <a:ext cx="360000" cy="1588"/>
          </a:xfrm>
          <a:prstGeom prst="line">
            <a:avLst/>
          </a:prstGeom>
          <a:ln>
            <a:solidFill>
              <a:srgbClr val="FF0000"/>
            </a:solidFill>
            <a:headEnd type="none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429000" y="2362200"/>
            <a:ext cx="609600" cy="38100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038600" y="2362200"/>
            <a:ext cx="685800" cy="381000"/>
          </a:xfrm>
          <a:prstGeom prst="line">
            <a:avLst/>
          </a:prstGeom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32846" y="2373868"/>
            <a:ext cx="77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query</a:t>
            </a:r>
            <a:endParaRPr lang="en-US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4714976" y="3897868"/>
            <a:ext cx="107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response</a:t>
            </a:r>
            <a:endParaRPr lang="en-US" i="1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3276600" y="4114800"/>
            <a:ext cx="3048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38400" y="3897868"/>
            <a:ext cx="77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query</a:t>
            </a:r>
            <a:endParaRPr lang="en-US" i="1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362200" y="4419600"/>
            <a:ext cx="40386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76600" y="4191000"/>
            <a:ext cx="304800" cy="228600"/>
          </a:xfrm>
          <a:prstGeom prst="rect">
            <a:avLst/>
          </a:prstGeom>
          <a:solidFill>
            <a:schemeClr val="accent1">
              <a:alpha val="37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rot="10800000" flipV="1">
            <a:off x="3581400" y="4114800"/>
            <a:ext cx="1066800" cy="228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67376" y="2362200"/>
            <a:ext cx="107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response</a:t>
            </a: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EL-API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opperplate"/>
                <a:cs typeface="Copperplate"/>
              </a:rPr>
              <a:t>Partner</a:t>
            </a:r>
            <a:endParaRPr lang="en-US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r>
              <a:rPr lang="en-US" dirty="0" err="1" smtClean="0">
                <a:latin typeface="Copperplate"/>
                <a:cs typeface="Copperplate"/>
              </a:rPr>
              <a:t>BestMap</a:t>
            </a:r>
            <a:endParaRPr lang="en-US" dirty="0" smtClean="0">
              <a:latin typeface="Copperplate"/>
              <a:cs typeface="Copperplate"/>
            </a:endParaRPr>
          </a:p>
          <a:p>
            <a:pPr>
              <a:buNone/>
            </a:pPr>
            <a:endParaRPr lang="en-US" i="1" dirty="0" smtClean="0">
              <a:latin typeface="Arial"/>
              <a:cs typeface="Arial"/>
            </a:endParaRPr>
          </a:p>
          <a:p>
            <a:r>
              <a:rPr lang="en-US" dirty="0" err="1" smtClean="0">
                <a:latin typeface="Copperplate"/>
                <a:cs typeface="Copperplate"/>
              </a:rPr>
              <a:t>MapsTo</a:t>
            </a:r>
            <a:endParaRPr lang="en-US" dirty="0" smtClean="0">
              <a:latin typeface="Copperplate"/>
              <a:cs typeface="Copperplate"/>
            </a:endParaRPr>
          </a:p>
          <a:p>
            <a:endParaRPr lang="en-US" dirty="0" smtClean="0">
              <a:latin typeface="Copperplate"/>
              <a:cs typeface="Copperplate"/>
            </a:endParaRPr>
          </a:p>
          <a:p>
            <a:r>
              <a:rPr lang="en-US" dirty="0" err="1" smtClean="0">
                <a:latin typeface="Copperplate"/>
                <a:cs typeface="Copperplate"/>
              </a:rPr>
              <a:t>HaploGraph</a:t>
            </a:r>
            <a:endParaRPr lang="en-US" dirty="0" smtClean="0">
              <a:latin typeface="Copperplate"/>
              <a:cs typeface="Copperplate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dirty="0" smtClean="0">
              <a:latin typeface="Arial"/>
              <a:cs typeface="Arial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00400" y="2667000"/>
            <a:ext cx="4038600" cy="523320"/>
            <a:chOff x="2362200" y="3897868"/>
            <a:chExt cx="4038600" cy="523320"/>
          </a:xfrm>
        </p:grpSpPr>
        <p:sp>
          <p:nvSpPr>
            <p:cNvPr id="12" name="TextBox 11"/>
            <p:cNvSpPr txBox="1"/>
            <p:nvPr/>
          </p:nvSpPr>
          <p:spPr>
            <a:xfrm>
              <a:off x="4714976" y="3897868"/>
              <a:ext cx="1076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response</a:t>
              </a:r>
              <a:endParaRPr lang="en-US" i="1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276600" y="41148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438400" y="3897868"/>
              <a:ext cx="772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query</a:t>
              </a:r>
              <a:endParaRPr lang="en-US" i="1" dirty="0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2362200" y="4419600"/>
              <a:ext cx="4038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3276600" y="4191000"/>
              <a:ext cx="304800" cy="228600"/>
            </a:xfrm>
            <a:prstGeom prst="rect">
              <a:avLst/>
            </a:prstGeom>
            <a:solidFill>
              <a:schemeClr val="accent1">
                <a:alpha val="37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0800000" flipV="1">
              <a:off x="3581400" y="4114800"/>
              <a:ext cx="1066800" cy="2286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113846" y="1676400"/>
            <a:ext cx="3210754" cy="382588"/>
            <a:chOff x="2732846" y="2362200"/>
            <a:chExt cx="3210754" cy="382588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124200" y="27432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745400" y="2743200"/>
              <a:ext cx="360000" cy="1588"/>
            </a:xfrm>
            <a:prstGeom prst="line">
              <a:avLst/>
            </a:prstGeom>
            <a:ln>
              <a:solidFill>
                <a:srgbClr val="FF0000"/>
              </a:solidFill>
              <a:headEnd type="none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3429000" y="2362200"/>
              <a:ext cx="6096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038600" y="2362200"/>
              <a:ext cx="685800" cy="381000"/>
            </a:xfrm>
            <a:prstGeom prst="line">
              <a:avLst/>
            </a:prstGeom>
            <a:ln w="3175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732846" y="2373868"/>
              <a:ext cx="7723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query</a:t>
              </a:r>
              <a:endParaRPr lang="en-US" i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7376" y="2362200"/>
              <a:ext cx="1076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response</a:t>
              </a:r>
              <a:endParaRPr lang="en-US" i="1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00400" y="3505200"/>
            <a:ext cx="4038600" cy="979726"/>
            <a:chOff x="2362200" y="3593068"/>
            <a:chExt cx="4038600" cy="979726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3276600" y="41148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2362200" y="4419600"/>
              <a:ext cx="4038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352800" y="41910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429000" y="42672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276600" y="3962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3276600" y="40386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3123405" y="4191000"/>
              <a:ext cx="762000" cy="158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3490975" y="3593068"/>
              <a:ext cx="2428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</a:t>
              </a:r>
              <a:endParaRPr 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851702" y="38978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&gt;</a:t>
              </a:r>
              <a:r>
                <a:rPr lang="en-US" dirty="0" err="1" smtClean="0"/>
                <a:t>k</a:t>
              </a:r>
              <a:endParaRPr lang="en-US" dirty="0"/>
            </a:p>
          </p:txBody>
        </p:sp>
        <p:sp>
          <p:nvSpPr>
            <p:cNvPr id="31" name="Right Brace 30"/>
            <p:cNvSpPr/>
            <p:nvPr/>
          </p:nvSpPr>
          <p:spPr>
            <a:xfrm>
              <a:off x="3733800" y="3886200"/>
              <a:ext cx="152400" cy="4572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4561646" y="4583668"/>
            <a:ext cx="77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query</a:t>
            </a:r>
            <a:endParaRPr lang="en-US" i="1" dirty="0"/>
          </a:p>
        </p:txBody>
      </p:sp>
      <p:cxnSp>
        <p:nvCxnSpPr>
          <p:cNvPr id="34" name="Straight Arrow Connector 33"/>
          <p:cNvCxnSpPr>
            <a:stCxn id="32" idx="1"/>
          </p:cNvCxnSpPr>
          <p:nvPr/>
        </p:nvCxnSpPr>
        <p:spPr>
          <a:xfrm rot="10800000">
            <a:off x="4343400" y="4572000"/>
            <a:ext cx="218246" cy="196334"/>
          </a:xfrm>
          <a:prstGeom prst="straightConnector1">
            <a:avLst/>
          </a:prstGeom>
          <a:ln w="63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10200" y="3669268"/>
            <a:ext cx="1076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response</a:t>
            </a:r>
            <a:endParaRPr lang="en-US" i="1" dirty="0"/>
          </a:p>
        </p:txBody>
      </p:sp>
      <p:cxnSp>
        <p:nvCxnSpPr>
          <p:cNvPr id="36" name="Straight Arrow Connector 35"/>
          <p:cNvCxnSpPr>
            <a:endCxn id="30" idx="3"/>
          </p:cNvCxnSpPr>
          <p:nvPr/>
        </p:nvCxnSpPr>
        <p:spPr>
          <a:xfrm rot="10800000" flipV="1">
            <a:off x="5105400" y="3962398"/>
            <a:ext cx="304800" cy="3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Copperplate"/>
                <a:cs typeface="Copperplate"/>
              </a:rPr>
              <a:t>MapsTo</a:t>
            </a:r>
            <a:endParaRPr lang="en-US" dirty="0" smtClean="0">
              <a:latin typeface="Copperplate"/>
              <a:cs typeface="Copperplate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endParaRPr lang="en-US" i="1" dirty="0" smtClean="0">
              <a:latin typeface="Arial"/>
              <a:cs typeface="Arial"/>
            </a:endParaRPr>
          </a:p>
          <a:p>
            <a:r>
              <a:rPr lang="en-US" dirty="0" err="1" smtClean="0">
                <a:latin typeface="Copperplate"/>
                <a:cs typeface="Copperplate"/>
              </a:rPr>
              <a:t>HaploGraph</a:t>
            </a:r>
            <a:endParaRPr lang="en-US" dirty="0" smtClean="0">
              <a:latin typeface="Copperplate"/>
              <a:cs typeface="Copperplate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2362200" y="2514600"/>
            <a:ext cx="4038600" cy="979726"/>
            <a:chOff x="2362200" y="3593068"/>
            <a:chExt cx="4038600" cy="97972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276600" y="41148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362200" y="4419600"/>
              <a:ext cx="4038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352800" y="41910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429000" y="42672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3276600" y="39624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276600" y="4038600"/>
              <a:ext cx="3048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>
              <a:off x="3123405" y="4191000"/>
              <a:ext cx="762000" cy="158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490975" y="3593068"/>
              <a:ext cx="2428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851702" y="38978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&gt;</a:t>
              </a:r>
              <a:r>
                <a:rPr lang="en-US" dirty="0" err="1" smtClean="0"/>
                <a:t>k</a:t>
              </a:r>
              <a:endParaRPr lang="en-US" dirty="0"/>
            </a:p>
          </p:txBody>
        </p:sp>
        <p:sp>
          <p:nvSpPr>
            <p:cNvPr id="16" name="Right Brace 15"/>
            <p:cNvSpPr/>
            <p:nvPr/>
          </p:nvSpPr>
          <p:spPr>
            <a:xfrm>
              <a:off x="3733800" y="3886200"/>
              <a:ext cx="152400" cy="45720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 query examples, again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Inversion: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ReadAt</a:t>
            </a:r>
            <a:r>
              <a:rPr lang="en-US" dirty="0" smtClean="0"/>
              <a:t>,  to get locations with high coverage of reads</a:t>
            </a:r>
          </a:p>
          <a:p>
            <a:pPr lvl="1"/>
            <a:r>
              <a:rPr lang="en-US" dirty="0" smtClean="0"/>
              <a:t>Use Partner and cluster to get the locations with high coverage of discordant reads supporting one breakpoint.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ReadAt</a:t>
            </a:r>
            <a:r>
              <a:rPr lang="en-US" dirty="0" smtClean="0"/>
              <a:t> to get fragments for the second breakpoint.</a:t>
            </a:r>
          </a:p>
          <a:p>
            <a:r>
              <a:rPr lang="en-US" dirty="0" smtClean="0"/>
              <a:t>Deletion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ReadAt</a:t>
            </a:r>
            <a:r>
              <a:rPr lang="en-US" dirty="0" smtClean="0"/>
              <a:t>,  to get locations with high coverage of reads</a:t>
            </a:r>
          </a:p>
          <a:p>
            <a:pPr lvl="1"/>
            <a:r>
              <a:rPr lang="en-US" dirty="0" smtClean="0"/>
              <a:t>Use Partner and </a:t>
            </a:r>
            <a:r>
              <a:rPr lang="en-US" dirty="0" err="1" smtClean="0"/>
              <a:t>bestmap</a:t>
            </a:r>
            <a:r>
              <a:rPr lang="en-US" dirty="0" smtClean="0"/>
              <a:t> to get the locations with high coverage of discordant reads.</a:t>
            </a:r>
          </a:p>
          <a:p>
            <a:pPr lvl="1"/>
            <a:r>
              <a:rPr lang="en-US" dirty="0" smtClean="0"/>
              <a:t>Use </a:t>
            </a:r>
            <a:r>
              <a:rPr lang="en-US" dirty="0" err="1" smtClean="0"/>
              <a:t>ReadAt</a:t>
            </a:r>
            <a:r>
              <a:rPr lang="en-US" dirty="0" smtClean="0"/>
              <a:t> to get concordant reads within the interval</a:t>
            </a:r>
          </a:p>
          <a:p>
            <a:r>
              <a:rPr lang="en-US" dirty="0" err="1" smtClean="0"/>
              <a:t>SNPs</a:t>
            </a:r>
            <a:r>
              <a:rPr lang="en-US" dirty="0" smtClean="0"/>
              <a:t>: straightforward</a:t>
            </a:r>
          </a:p>
          <a:p>
            <a:r>
              <a:rPr lang="en-US" dirty="0" err="1" smtClean="0"/>
              <a:t>CNVs</a:t>
            </a:r>
            <a:r>
              <a:rPr lang="en-US" dirty="0" smtClean="0"/>
              <a:t>: straightforward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IV. Indices for Efficient Access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Layered on top of </a:t>
            </a:r>
            <a:r>
              <a:rPr lang="en-US" dirty="0" err="1" smtClean="0"/>
              <a:t>Slimgene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Modify </a:t>
            </a:r>
            <a:r>
              <a:rPr lang="en-US" dirty="0" err="1" smtClean="0"/>
              <a:t>Slimgene</a:t>
            </a:r>
            <a:r>
              <a:rPr lang="en-US" dirty="0" smtClean="0"/>
              <a:t> to work on top of BAM. In addition, we place a separate index file of positional indices.</a:t>
            </a:r>
          </a:p>
          <a:p>
            <a:r>
              <a:rPr lang="en-US" dirty="0" smtClean="0"/>
              <a:t>For example, for every 1000 locations, I(X) maps to position X in sorted compressed file</a:t>
            </a:r>
          </a:p>
          <a:p>
            <a:r>
              <a:rPr lang="en-US" i="1" dirty="0" smtClean="0"/>
              <a:t>Exemplar query </a:t>
            </a:r>
            <a:r>
              <a:rPr lang="en-US" dirty="0" smtClean="0"/>
              <a:t>: </a:t>
            </a:r>
            <a:r>
              <a:rPr lang="en-US" i="1" dirty="0" smtClean="0"/>
              <a:t>return all READs in [X,Y] </a:t>
            </a:r>
          </a:p>
          <a:p>
            <a:r>
              <a:rPr lang="en-US" dirty="0" smtClean="0"/>
              <a:t>Solution: Uncompress from I[X] to Y</a:t>
            </a:r>
          </a:p>
          <a:p>
            <a:r>
              <a:rPr lang="en-US" dirty="0" smtClean="0"/>
              <a:t>Besides locations, need other indices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Coverage Indices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 smtClean="0"/>
              <a:t>Query 1</a:t>
            </a:r>
            <a:r>
              <a:rPr lang="en-US" dirty="0" smtClean="0"/>
              <a:t>: return all regions in which </a:t>
            </a:r>
          </a:p>
          <a:p>
            <a:pPr lvl="1"/>
            <a:r>
              <a:rPr lang="en-US" dirty="0" smtClean="0"/>
              <a:t>number of discordant reads (paired-end is not mapped proximally) exceeds threshold T</a:t>
            </a:r>
          </a:p>
          <a:p>
            <a:r>
              <a:rPr lang="en-US" dirty="0" smtClean="0"/>
              <a:t>Intuition: Can build this index efficiently during mapping.</a:t>
            </a:r>
          </a:p>
          <a:p>
            <a:pPr lvl="1"/>
            <a:r>
              <a:rPr lang="en-US" dirty="0" smtClean="0"/>
              <a:t>Mimics queries for relational databases </a:t>
            </a:r>
          </a:p>
          <a:p>
            <a:r>
              <a:rPr lang="en-US" dirty="0" smtClean="0"/>
              <a:t>Solution: mimics relational database queries</a:t>
            </a:r>
          </a:p>
          <a:p>
            <a:pPr lvl="1"/>
            <a:r>
              <a:rPr lang="en-US" dirty="0" smtClean="0"/>
              <a:t>Define parameters of a mapping for each fragment</a:t>
            </a:r>
          </a:p>
          <a:p>
            <a:pPr lvl="2"/>
            <a:r>
              <a:rPr lang="en-US" dirty="0" smtClean="0"/>
              <a:t>Location of fragment, </a:t>
            </a:r>
          </a:p>
          <a:p>
            <a:pPr lvl="2"/>
            <a:r>
              <a:rPr lang="en-US" dirty="0" smtClean="0"/>
              <a:t>Location and type of edit operation</a:t>
            </a:r>
          </a:p>
          <a:p>
            <a:pPr lvl="2"/>
            <a:r>
              <a:rPr lang="en-US" dirty="0" smtClean="0"/>
              <a:t>Distance from partner</a:t>
            </a:r>
          </a:p>
          <a:p>
            <a:pPr lvl="1"/>
            <a:r>
              <a:rPr lang="en-US" dirty="0" smtClean="0"/>
              <a:t> Allow definition of index based on any conjunction of ranges on parameters</a:t>
            </a:r>
          </a:p>
          <a:p>
            <a:r>
              <a:rPr lang="en-US" i="1" dirty="0" smtClean="0"/>
              <a:t>Other queries:  </a:t>
            </a:r>
            <a:r>
              <a:rPr lang="en-US" dirty="0" smtClean="0"/>
              <a:t>Regions where </a:t>
            </a:r>
          </a:p>
          <a:p>
            <a:pPr lvl="1"/>
            <a:r>
              <a:rPr lang="en-US" dirty="0" smtClean="0"/>
              <a:t>Sequence coverage exceeds T</a:t>
            </a:r>
          </a:p>
          <a:p>
            <a:pPr lvl="1"/>
            <a:r>
              <a:rPr lang="en-US" dirty="0" smtClean="0"/>
              <a:t>Sequence coverage exceeds T for each individual sample in population</a:t>
            </a:r>
          </a:p>
          <a:p>
            <a:pPr lvl="1"/>
            <a:r>
              <a:rPr lang="en-US" dirty="0" smtClean="0"/>
              <a:t># of SNPs &gt; 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Haplotype</a:t>
            </a:r>
            <a:r>
              <a:rPr lang="en-US" dirty="0" smtClean="0"/>
              <a:t> 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 smtClean="0"/>
              <a:t>Query:</a:t>
            </a:r>
            <a:r>
              <a:rPr lang="en-US" dirty="0" smtClean="0"/>
              <a:t>  Given SNP locations</a:t>
            </a:r>
            <a:r>
              <a:rPr lang="en-US" i="1" dirty="0" smtClean="0"/>
              <a:t> </a:t>
            </a:r>
            <a:r>
              <a:rPr lang="en-US" dirty="0" smtClean="0"/>
              <a:t>A, B compute </a:t>
            </a:r>
            <a:r>
              <a:rPr lang="en-US" dirty="0" err="1" smtClean="0"/>
              <a:t>haplotypes</a:t>
            </a:r>
            <a:r>
              <a:rPr lang="en-US" dirty="0" smtClean="0"/>
              <a:t> for individual (individuals in a population)</a:t>
            </a:r>
            <a:endParaRPr lang="en-US" i="1" dirty="0" smtClean="0"/>
          </a:p>
          <a:p>
            <a:r>
              <a:rPr lang="en-US" i="1" dirty="0" smtClean="0"/>
              <a:t>Intuition: </a:t>
            </a:r>
          </a:p>
          <a:p>
            <a:pPr lvl="1"/>
            <a:r>
              <a:rPr lang="en-US" dirty="0" smtClean="0"/>
              <a:t>Direct evidence for </a:t>
            </a:r>
            <a:r>
              <a:rPr lang="en-US" dirty="0" err="1" smtClean="0"/>
              <a:t>haplotypes</a:t>
            </a:r>
            <a:r>
              <a:rPr lang="en-US" dirty="0" smtClean="0"/>
              <a:t> are reads that overlap locations A and B few reads.  </a:t>
            </a:r>
            <a:endParaRPr lang="en-US" dirty="0"/>
          </a:p>
          <a:p>
            <a:pPr lvl="1"/>
            <a:r>
              <a:rPr lang="en-US" dirty="0" smtClean="0"/>
              <a:t>Indirect evidence is a chain of </a:t>
            </a:r>
            <a:r>
              <a:rPr lang="en-US" dirty="0" err="1" smtClean="0"/>
              <a:t>SNPs</a:t>
            </a:r>
            <a:r>
              <a:rPr lang="en-US" dirty="0" smtClean="0"/>
              <a:t> (A,A1,A2,…,B) </a:t>
            </a:r>
            <a:r>
              <a:rPr lang="en-US" dirty="0" err="1" smtClean="0"/>
              <a:t>s.t</a:t>
            </a:r>
            <a:r>
              <a:rPr lang="en-US" dirty="0" smtClean="0"/>
              <a:t>. every adjacent pair is touched by a read.</a:t>
            </a:r>
          </a:p>
          <a:p>
            <a:pPr lvl="1"/>
            <a:r>
              <a:rPr lang="en-US" dirty="0" smtClean="0"/>
              <a:t>EL must output the reads and the chain.</a:t>
            </a:r>
          </a:p>
          <a:p>
            <a:r>
              <a:rPr lang="en-US" dirty="0" smtClean="0"/>
              <a:t>Index:</a:t>
            </a:r>
          </a:p>
          <a:p>
            <a:pPr lvl="1"/>
            <a:r>
              <a:rPr lang="en-US" dirty="0" smtClean="0"/>
              <a:t>A sparse map of </a:t>
            </a:r>
            <a:r>
              <a:rPr lang="en-US" dirty="0" err="1" smtClean="0"/>
              <a:t>tuples</a:t>
            </a:r>
            <a:r>
              <a:rPr lang="en-US" dirty="0" smtClean="0"/>
              <a:t> &lt;X,Y, R&gt; </a:t>
            </a:r>
            <a:r>
              <a:rPr lang="en-US" dirty="0" err="1" smtClean="0"/>
              <a:t>iff</a:t>
            </a:r>
            <a:r>
              <a:rPr lang="en-US" dirty="0" smtClean="0"/>
              <a:t> read R overlaps  SNP pairs X,Y.  </a:t>
            </a:r>
          </a:p>
          <a:p>
            <a:pPr lvl="1"/>
            <a:r>
              <a:rPr lang="en-US" dirty="0" smtClean="0"/>
              <a:t>This set is hopefully not too large</a:t>
            </a:r>
          </a:p>
          <a:p>
            <a:pPr lvl="1"/>
            <a:r>
              <a:rPr lang="en-US" dirty="0" smtClean="0"/>
              <a:t>Conceptually, this creates a graph with </a:t>
            </a:r>
            <a:r>
              <a:rPr lang="en-US" dirty="0" err="1" smtClean="0"/>
              <a:t>SNPs</a:t>
            </a:r>
            <a:r>
              <a:rPr lang="en-US" dirty="0" smtClean="0"/>
              <a:t> as nodes, and edges labeled by sets of reads.</a:t>
            </a:r>
          </a:p>
          <a:p>
            <a:r>
              <a:rPr lang="en-US" i="1" dirty="0" smtClean="0"/>
              <a:t>Solution: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Compute connected component containing A, B. The c.c. must be trimmed so that all edges lie on paths between A,B (easy). The set of reads that label edges, must </a:t>
            </a:r>
            <a:r>
              <a:rPr lang="en-US" smtClean="0"/>
              <a:t>be returned along </a:t>
            </a:r>
            <a:r>
              <a:rPr lang="en-US" dirty="0" smtClean="0"/>
              <a:t>with c.c.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Inversion query indices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Note that every read can be labeled as discordant or concordant during mapping.</a:t>
            </a:r>
          </a:p>
          <a:p>
            <a:r>
              <a:rPr lang="en-US" dirty="0" smtClean="0"/>
              <a:t>We have indices for read-counts</a:t>
            </a:r>
          </a:p>
          <a:p>
            <a:r>
              <a:rPr lang="en-US" dirty="0" smtClean="0"/>
              <a:t>Steps</a:t>
            </a:r>
          </a:p>
          <a:p>
            <a:pPr lvl="1"/>
            <a:r>
              <a:rPr lang="en-US" dirty="0" smtClean="0"/>
              <a:t>Query for large numbers of orientation discordant reads using read-count indices for discordant reads.</a:t>
            </a:r>
          </a:p>
          <a:p>
            <a:pPr lvl="1"/>
            <a:r>
              <a:rPr lang="en-US" dirty="0" smtClean="0"/>
              <a:t>This gives us the first breakpoint.</a:t>
            </a:r>
          </a:p>
          <a:p>
            <a:pPr lvl="1"/>
            <a:r>
              <a:rPr lang="en-US" dirty="0" smtClean="0"/>
              <a:t>Find the (paired-end) partners for each read.</a:t>
            </a:r>
          </a:p>
          <a:p>
            <a:pPr lvl="1"/>
            <a:r>
              <a:rPr lang="en-US" dirty="0" smtClean="0"/>
              <a:t>Locate the locations of the partners to the second breakpoint.</a:t>
            </a:r>
          </a:p>
          <a:p>
            <a:pPr lvl="1"/>
            <a:r>
              <a:rPr lang="en-US" dirty="0" smtClean="0"/>
              <a:t>Return all discordant reads supporting the two breakpoints, and also concordant reads in the same region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V. Generalizations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Generalizations to Functional Genomics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RNA Transcripts:  </a:t>
            </a:r>
          </a:p>
          <a:p>
            <a:pPr lvl="1"/>
            <a:r>
              <a:rPr lang="en-US" dirty="0" smtClean="0"/>
              <a:t>Discovery: Find all genes (regions of reference) that such that more than X READs map to them</a:t>
            </a:r>
          </a:p>
          <a:p>
            <a:pPr lvl="1"/>
            <a:r>
              <a:rPr lang="en-US" dirty="0" smtClean="0"/>
              <a:t>Query: Find all READs that map to gene (reference region)</a:t>
            </a:r>
            <a:endParaRPr lang="en-US" dirty="0"/>
          </a:p>
          <a:p>
            <a:r>
              <a:rPr lang="en-US" dirty="0" smtClean="0"/>
              <a:t>CHIP </a:t>
            </a:r>
            <a:r>
              <a:rPr lang="en-US" dirty="0" err="1" smtClean="0"/>
              <a:t>Seq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Discovery: Find all regions (TBFs) where more than X READS map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SlimGene</a:t>
            </a:r>
            <a:r>
              <a:rPr lang="en-US" dirty="0" smtClean="0"/>
              <a:t>/BAM</a:t>
            </a:r>
          </a:p>
          <a:p>
            <a:pPr lvl="1"/>
            <a:r>
              <a:rPr lang="en-US" dirty="0" smtClean="0"/>
              <a:t>Bp (ignore color space)</a:t>
            </a:r>
          </a:p>
          <a:p>
            <a:pPr lvl="1"/>
            <a:r>
              <a:rPr lang="en-US" dirty="0" smtClean="0"/>
              <a:t>Other values</a:t>
            </a:r>
          </a:p>
          <a:p>
            <a:pPr lvl="1"/>
            <a:r>
              <a:rPr lang="en-US" smtClean="0"/>
              <a:t>Recording concordant</a:t>
            </a:r>
            <a:r>
              <a:rPr lang="en-US" dirty="0" smtClean="0"/>
              <a:t>/discordant pairs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3143</TotalTime>
  <Words>1989</Words>
  <Application>Microsoft Macintosh PowerPoint</Application>
  <PresentationFormat>On-screen Show (4:3)</PresentationFormat>
  <Paragraphs>294</Paragraphs>
  <Slides>34</Slides>
  <Notes>1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Abstractions for Genomics</vt:lpstr>
      <vt:lpstr>Internet Layering as an example</vt:lpstr>
      <vt:lpstr>Lessons from Complex Systems (Internet, PCs, Databases)</vt:lpstr>
      <vt:lpstr>Assumptions for genomic layering</vt:lpstr>
      <vt:lpstr>Proposed layering of genomic software</vt:lpstr>
      <vt:lpstr>The current state of the art</vt:lpstr>
      <vt:lpstr>Our proposal</vt:lpstr>
      <vt:lpstr>Outline of Rest of Presentation</vt:lpstr>
      <vt:lpstr>Ia: A brief note on AL</vt:lpstr>
      <vt:lpstr>Applications</vt:lpstr>
      <vt:lpstr>II. Separation of Evidence and Inference</vt:lpstr>
      <vt:lpstr>IIa: SNPs</vt:lpstr>
      <vt:lpstr>SNP Calling</vt:lpstr>
      <vt:lpstr>EL Queries for SNPs</vt:lpstr>
      <vt:lpstr>IIb: Deletions</vt:lpstr>
      <vt:lpstr>Deletion Calling</vt:lpstr>
      <vt:lpstr>EL Queries for Deletions</vt:lpstr>
      <vt:lpstr>Inversion</vt:lpstr>
      <vt:lpstr>Calling inversions</vt:lpstr>
      <vt:lpstr>EL queries for inversions</vt:lpstr>
      <vt:lpstr>EL for inversion</vt:lpstr>
      <vt:lpstr>III. Proposed API</vt:lpstr>
      <vt:lpstr>API for an individual (will also support population)</vt:lpstr>
      <vt:lpstr>EL-API</vt:lpstr>
      <vt:lpstr>Slide 25</vt:lpstr>
      <vt:lpstr>EL query examples, again</vt:lpstr>
      <vt:lpstr>IV. Indices for Efficient Access</vt:lpstr>
      <vt:lpstr>Layered on top of Slimgene</vt:lpstr>
      <vt:lpstr>Coverage Indices</vt:lpstr>
      <vt:lpstr>Haplotype  queries</vt:lpstr>
      <vt:lpstr>Inversion query indices</vt:lpstr>
      <vt:lpstr>V. Generalizations</vt:lpstr>
      <vt:lpstr>Generalizations to Functional Genomics</vt:lpstr>
      <vt:lpstr>Next Steps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Abstractions for Genomics</dc:title>
  <dc:creator>tim</dc:creator>
  <cp:lastModifiedBy>Vineet Bafna</cp:lastModifiedBy>
  <cp:revision>161</cp:revision>
  <cp:lastPrinted>2010-11-03T22:28:25Z</cp:lastPrinted>
  <dcterms:created xsi:type="dcterms:W3CDTF">2010-11-08T17:08:37Z</dcterms:created>
  <dcterms:modified xsi:type="dcterms:W3CDTF">2010-11-08T17:16:40Z</dcterms:modified>
</cp:coreProperties>
</file>